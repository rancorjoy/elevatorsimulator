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aea9551898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aea9551898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aea9551898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aea9551898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aea9551898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aea9551898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aea9551898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aea9551898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aea9551898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aea9551898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aea9551898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aea9551898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aea9551898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aea9551898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aea9551898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aea9551898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aea9551898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aea9551898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aea9551898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aea9551898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aea9551898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aea9551898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aea9551898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aea9551898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aea9551898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aea9551898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aea9551898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aea9551898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aea9551898_0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aea9551898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aea9551898_0_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aea9551898_0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aea9551898_0_2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aea9551898_0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Relationship Id="rId4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Relationship Id="rId4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1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8.png"/><Relationship Id="rId4" Type="http://schemas.openxmlformats.org/officeDocument/2006/relationships/image" Target="../media/image1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7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DSA Final: Dynamic Elevator Simulation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Brandon Esebag</a:t>
            </a:r>
            <a:endParaRPr/>
          </a:p>
        </p:txBody>
      </p:sp>
      <p:sp>
        <p:nvSpPr>
          <p:cNvPr id="56" name="Google Shape;56;p13"/>
          <p:cNvSpPr txBox="1"/>
          <p:nvPr/>
        </p:nvSpPr>
        <p:spPr>
          <a:xfrm>
            <a:off x="2080500" y="3288025"/>
            <a:ext cx="4983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2"/>
                </a:solidFill>
              </a:rPr>
              <a:t>GitHub Repo: https://github.com/rancorjoy/ElevatorSimulator.git</a:t>
            </a:r>
            <a:endParaRPr sz="10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 of all Classes (Main Data Structures)</a:t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MainWindow:		Displays client window and updates each frame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AgentController: 		Controls the behavior of each agen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Agent: 				Controls the graphical output of each agent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ElevatorController:	Controls the behavior of each elevator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ElevatorShaft:		Controls the graphical output of each hall segment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ElevatorCar:			Controls the graphical output of each elevator car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MainWindow Internal Data Structures 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Constant Integers for MaxFloors, MaxShafts and MaxAgents to bound the simulation </a:t>
            </a:r>
            <a:r>
              <a:rPr lang="en"/>
              <a:t>resources</a:t>
            </a:r>
            <a:r>
              <a:rPr lang="en"/>
              <a:t> (allowing arrays to be used, cheaper for performance)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Resulting Arrays: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ElevatorController elevatorControllers[MaxShafts]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ElevatorCar elevatorCars[MaxShafts]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ElevatorShaft elevatorShafts[MaShafts, MaxFloors]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AgentController agentControllers[MaxAgents]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Agent agents[MaxAgents]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These arrays store all elements being simulated, but since the simulation can be shrank we need to deal with all edge cases!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and Remove Shaft(s)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MainWindow:</a:t>
            </a:r>
            <a:endParaRPr/>
          </a:p>
        </p:txBody>
      </p:sp>
      <p:pic>
        <p:nvPicPr>
          <p:cNvPr id="75" name="Google Shape;7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32025" y="1152475"/>
            <a:ext cx="4986225" cy="374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Remove Shaft(s) Continued</a:t>
            </a:r>
            <a:endParaRPr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AgentController:</a:t>
            </a:r>
            <a:endParaRPr/>
          </a:p>
        </p:txBody>
      </p:sp>
      <p:pic>
        <p:nvPicPr>
          <p:cNvPr id="82" name="Google Shape;8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31025" y="1152475"/>
            <a:ext cx="5764425" cy="3671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Floor(s)</a:t>
            </a:r>
            <a:endParaRPr/>
          </a:p>
        </p:txBody>
      </p:sp>
      <p:sp>
        <p:nvSpPr>
          <p:cNvPr id="88" name="Google Shape;88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MainWindow:</a:t>
            </a:r>
            <a:endParaRPr/>
          </a:p>
        </p:txBody>
      </p:sp>
      <p:pic>
        <p:nvPicPr>
          <p:cNvPr id="89" name="Google Shape;8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99" y="1723900"/>
            <a:ext cx="6447526" cy="2273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Removing Floor(s)</a:t>
            </a:r>
            <a:endParaRPr/>
          </a:p>
        </p:txBody>
      </p:sp>
      <p:sp>
        <p:nvSpPr>
          <p:cNvPr id="95" name="Google Shape;95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In MainWindow:</a:t>
            </a:r>
            <a:endParaRPr/>
          </a:p>
        </p:txBody>
      </p:sp>
      <p:pic>
        <p:nvPicPr>
          <p:cNvPr id="96" name="Google Shape;9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573150"/>
            <a:ext cx="5374825" cy="347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Removing Floor(s) Continued</a:t>
            </a:r>
            <a:endParaRPr/>
          </a:p>
        </p:txBody>
      </p:sp>
      <p:sp>
        <p:nvSpPr>
          <p:cNvPr id="102" name="Google Shape;102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ElevatorController(s):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3" name="Google Shape;10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98" y="1576525"/>
            <a:ext cx="6929851" cy="3188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Removing Floor(s) Continued</a:t>
            </a:r>
            <a:endParaRPr/>
          </a:p>
        </p:txBody>
      </p:sp>
      <p:sp>
        <p:nvSpPr>
          <p:cNvPr id="109" name="Google Shape;109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Agent(s):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0" name="Google Shape;11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7750" y="1152475"/>
            <a:ext cx="4195051" cy="3773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Changing Dimension Size (MainWindow MainLoop):</a:t>
            </a:r>
            <a:endParaRPr/>
          </a:p>
        </p:txBody>
      </p:sp>
      <p:pic>
        <p:nvPicPr>
          <p:cNvPr id="116" name="Google Shape;11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67640" y="1152475"/>
            <a:ext cx="3764660" cy="341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1152475"/>
            <a:ext cx="4755949" cy="16006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Changing the Simulation Size (User Interface):</a:t>
            </a:r>
            <a:endParaRPr/>
          </a:p>
        </p:txBody>
      </p:sp>
      <p:pic>
        <p:nvPicPr>
          <p:cNvPr id="123" name="Google Shape;12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7238" y="1152487"/>
            <a:ext cx="3430350" cy="3476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07588" y="1152475"/>
            <a:ext cx="3359179" cy="3476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Elevator Algorithms (SCAN Variants)</a:t>
            </a:r>
            <a:endParaRPr/>
          </a:p>
        </p:txBody>
      </p:sp>
      <p:sp>
        <p:nvSpPr>
          <p:cNvPr id="130" name="Google Shape;130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Greedy SCAN: Only uses idle elevators if there are no possible moving candidates (minimize idle calling).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Balanced</a:t>
            </a:r>
            <a:r>
              <a:rPr lang="en"/>
              <a:t> SCAN: Scores each </a:t>
            </a:r>
            <a:r>
              <a:rPr lang="en"/>
              <a:t>candidate</a:t>
            </a:r>
            <a:r>
              <a:rPr lang="en"/>
              <a:t> based on distance and chooses the best candidate regardless of idle/moving state.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Aggressive SCAN: </a:t>
            </a:r>
            <a:r>
              <a:rPr lang="en"/>
              <a:t>Only uses moving elevators if there are no possible idle candidates (maximized idle calling), exact opposite of Greedy SCAN.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Elevator State Machine (ElevatorController)</a:t>
            </a:r>
            <a:endParaRPr/>
          </a:p>
        </p:txBody>
      </p:sp>
      <p:sp>
        <p:nvSpPr>
          <p:cNvPr id="136" name="Google Shape;136;p25"/>
          <p:cNvSpPr/>
          <p:nvPr/>
        </p:nvSpPr>
        <p:spPr>
          <a:xfrm>
            <a:off x="1958000" y="1845013"/>
            <a:ext cx="830400" cy="830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Idle</a:t>
            </a:r>
            <a:endParaRPr/>
          </a:p>
        </p:txBody>
      </p:sp>
      <p:sp>
        <p:nvSpPr>
          <p:cNvPr id="137" name="Google Shape;137;p25"/>
          <p:cNvSpPr/>
          <p:nvPr/>
        </p:nvSpPr>
        <p:spPr>
          <a:xfrm>
            <a:off x="1958000" y="3393600"/>
            <a:ext cx="1448100" cy="830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Idle_Closing</a:t>
            </a:r>
            <a:endParaRPr/>
          </a:p>
        </p:txBody>
      </p:sp>
      <p:sp>
        <p:nvSpPr>
          <p:cNvPr id="138" name="Google Shape;138;p25"/>
          <p:cNvSpPr/>
          <p:nvPr/>
        </p:nvSpPr>
        <p:spPr>
          <a:xfrm>
            <a:off x="5904250" y="3393600"/>
            <a:ext cx="830400" cy="830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Closing</a:t>
            </a:r>
            <a:endParaRPr/>
          </a:p>
        </p:txBody>
      </p:sp>
      <p:sp>
        <p:nvSpPr>
          <p:cNvPr id="139" name="Google Shape;139;p25"/>
          <p:cNvSpPr/>
          <p:nvPr/>
        </p:nvSpPr>
        <p:spPr>
          <a:xfrm>
            <a:off x="4209200" y="1881275"/>
            <a:ext cx="1001400" cy="830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Opening</a:t>
            </a:r>
            <a:endParaRPr/>
          </a:p>
        </p:txBody>
      </p:sp>
      <p:sp>
        <p:nvSpPr>
          <p:cNvPr id="140" name="Google Shape;140;p25"/>
          <p:cNvSpPr/>
          <p:nvPr/>
        </p:nvSpPr>
        <p:spPr>
          <a:xfrm>
            <a:off x="4294700" y="3429850"/>
            <a:ext cx="830400" cy="830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Open</a:t>
            </a:r>
            <a:endParaRPr/>
          </a:p>
        </p:txBody>
      </p:sp>
      <p:sp>
        <p:nvSpPr>
          <p:cNvPr id="141" name="Google Shape;141;p25"/>
          <p:cNvSpPr/>
          <p:nvPr/>
        </p:nvSpPr>
        <p:spPr>
          <a:xfrm>
            <a:off x="5904250" y="1197875"/>
            <a:ext cx="830400" cy="830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Moving</a:t>
            </a:r>
            <a:endParaRPr/>
          </a:p>
        </p:txBody>
      </p:sp>
      <p:sp>
        <p:nvSpPr>
          <p:cNvPr id="142" name="Google Shape;142;p25"/>
          <p:cNvSpPr/>
          <p:nvPr/>
        </p:nvSpPr>
        <p:spPr>
          <a:xfrm>
            <a:off x="2788400" y="2145175"/>
            <a:ext cx="1420800" cy="230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5"/>
          <p:cNvSpPr/>
          <p:nvPr/>
        </p:nvSpPr>
        <p:spPr>
          <a:xfrm rot="5400000">
            <a:off x="4353275" y="2954825"/>
            <a:ext cx="711300" cy="2250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25"/>
          <p:cNvSpPr/>
          <p:nvPr/>
        </p:nvSpPr>
        <p:spPr>
          <a:xfrm>
            <a:off x="5125100" y="3730000"/>
            <a:ext cx="779100" cy="230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25"/>
          <p:cNvSpPr/>
          <p:nvPr/>
        </p:nvSpPr>
        <p:spPr>
          <a:xfrm rot="-7268431">
            <a:off x="6343051" y="2578852"/>
            <a:ext cx="1584294" cy="220206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25"/>
          <p:cNvSpPr/>
          <p:nvPr/>
        </p:nvSpPr>
        <p:spPr>
          <a:xfrm rot="10800000">
            <a:off x="3419900" y="3698625"/>
            <a:ext cx="874800" cy="243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25"/>
          <p:cNvSpPr/>
          <p:nvPr/>
        </p:nvSpPr>
        <p:spPr>
          <a:xfrm rot="-5400000">
            <a:off x="2041850" y="2924413"/>
            <a:ext cx="662700" cy="220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25"/>
          <p:cNvSpPr/>
          <p:nvPr/>
        </p:nvSpPr>
        <p:spPr>
          <a:xfrm rot="-794412">
            <a:off x="2799166" y="1552401"/>
            <a:ext cx="3121371" cy="22005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25"/>
          <p:cNvSpPr txBox="1"/>
          <p:nvPr/>
        </p:nvSpPr>
        <p:spPr>
          <a:xfrm>
            <a:off x="2968700" y="1203200"/>
            <a:ext cx="1777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2"/>
                </a:solidFill>
              </a:rPr>
              <a:t>Can be called from idle to a different floor</a:t>
            </a:r>
            <a:endParaRPr sz="1000">
              <a:solidFill>
                <a:schemeClr val="lt2"/>
              </a:solidFill>
            </a:endParaRPr>
          </a:p>
        </p:txBody>
      </p:sp>
      <p:sp>
        <p:nvSpPr>
          <p:cNvPr id="150" name="Google Shape;150;p25"/>
          <p:cNvSpPr txBox="1"/>
          <p:nvPr/>
        </p:nvSpPr>
        <p:spPr>
          <a:xfrm>
            <a:off x="363600" y="2897963"/>
            <a:ext cx="1777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2"/>
                </a:solidFill>
              </a:rPr>
              <a:t>Nobody hit the open button</a:t>
            </a:r>
            <a:endParaRPr sz="1000">
              <a:solidFill>
                <a:schemeClr val="lt2"/>
              </a:solidFill>
            </a:endParaRPr>
          </a:p>
        </p:txBody>
      </p:sp>
      <p:sp>
        <p:nvSpPr>
          <p:cNvPr id="151" name="Google Shape;151;p25"/>
          <p:cNvSpPr txBox="1"/>
          <p:nvPr/>
        </p:nvSpPr>
        <p:spPr>
          <a:xfrm>
            <a:off x="4626050" y="4319088"/>
            <a:ext cx="1777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2"/>
                </a:solidFill>
              </a:rPr>
              <a:t>Nobody hit the open button or OpenTimer expired</a:t>
            </a:r>
            <a:endParaRPr sz="1000">
              <a:solidFill>
                <a:schemeClr val="lt2"/>
              </a:solidFill>
            </a:endParaRPr>
          </a:p>
        </p:txBody>
      </p:sp>
      <p:sp>
        <p:nvSpPr>
          <p:cNvPr id="152" name="Google Shape;152;p25"/>
          <p:cNvSpPr txBox="1"/>
          <p:nvPr/>
        </p:nvSpPr>
        <p:spPr>
          <a:xfrm>
            <a:off x="2788400" y="4319101"/>
            <a:ext cx="1777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2"/>
                </a:solidFill>
              </a:rPr>
              <a:t>Nobody hit the open button or OpenTimer expired AND there are no targets</a:t>
            </a:r>
            <a:endParaRPr sz="1000">
              <a:solidFill>
                <a:schemeClr val="lt2"/>
              </a:solidFill>
            </a:endParaRPr>
          </a:p>
        </p:txBody>
      </p:sp>
      <p:sp>
        <p:nvSpPr>
          <p:cNvPr id="153" name="Google Shape;153;p25"/>
          <p:cNvSpPr txBox="1"/>
          <p:nvPr/>
        </p:nvSpPr>
        <p:spPr>
          <a:xfrm>
            <a:off x="180800" y="1185063"/>
            <a:ext cx="1777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2"/>
                </a:solidFill>
              </a:rPr>
              <a:t>Nobody hit the open button or OpenTimer expired</a:t>
            </a:r>
            <a:endParaRPr sz="1000">
              <a:solidFill>
                <a:schemeClr val="lt2"/>
              </a:solidFill>
            </a:endParaRPr>
          </a:p>
        </p:txBody>
      </p:sp>
      <p:sp>
        <p:nvSpPr>
          <p:cNvPr id="154" name="Google Shape;154;p25"/>
          <p:cNvSpPr/>
          <p:nvPr/>
        </p:nvSpPr>
        <p:spPr>
          <a:xfrm>
            <a:off x="7513800" y="3393600"/>
            <a:ext cx="830400" cy="830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Closed</a:t>
            </a:r>
            <a:endParaRPr/>
          </a:p>
        </p:txBody>
      </p:sp>
      <p:sp>
        <p:nvSpPr>
          <p:cNvPr id="155" name="Google Shape;155;p25"/>
          <p:cNvSpPr/>
          <p:nvPr/>
        </p:nvSpPr>
        <p:spPr>
          <a:xfrm>
            <a:off x="6734700" y="3693750"/>
            <a:ext cx="779100" cy="230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25"/>
          <p:cNvSpPr txBox="1"/>
          <p:nvPr/>
        </p:nvSpPr>
        <p:spPr>
          <a:xfrm>
            <a:off x="6324750" y="4319088"/>
            <a:ext cx="1777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2"/>
                </a:solidFill>
              </a:rPr>
              <a:t>Nobody hit the open while closing (doors closed)</a:t>
            </a:r>
            <a:endParaRPr sz="1000">
              <a:solidFill>
                <a:schemeClr val="lt2"/>
              </a:solidFill>
            </a:endParaRPr>
          </a:p>
        </p:txBody>
      </p:sp>
      <p:sp>
        <p:nvSpPr>
          <p:cNvPr id="157" name="Google Shape;157;p25"/>
          <p:cNvSpPr txBox="1"/>
          <p:nvPr/>
        </p:nvSpPr>
        <p:spPr>
          <a:xfrm>
            <a:off x="7195175" y="2336725"/>
            <a:ext cx="1777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2"/>
                </a:solidFill>
              </a:rPr>
              <a:t>OpenTimer/2 expires</a:t>
            </a:r>
            <a:endParaRPr sz="1000">
              <a:solidFill>
                <a:schemeClr val="lt2"/>
              </a:solidFill>
            </a:endParaRPr>
          </a:p>
        </p:txBody>
      </p:sp>
      <p:sp>
        <p:nvSpPr>
          <p:cNvPr id="158" name="Google Shape;158;p25"/>
          <p:cNvSpPr/>
          <p:nvPr/>
        </p:nvSpPr>
        <p:spPr>
          <a:xfrm rot="8763676">
            <a:off x="5144720" y="2258877"/>
            <a:ext cx="1016109" cy="229981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5"/>
          <p:cNvSpPr txBox="1"/>
          <p:nvPr/>
        </p:nvSpPr>
        <p:spPr>
          <a:xfrm>
            <a:off x="5634725" y="2336725"/>
            <a:ext cx="1777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2"/>
                </a:solidFill>
              </a:rPr>
              <a:t>Arrived at target</a:t>
            </a:r>
            <a:endParaRPr sz="1000">
              <a:solidFill>
                <a:schemeClr val="lt2"/>
              </a:solidFill>
            </a:endParaRPr>
          </a:p>
        </p:txBody>
      </p:sp>
      <p:sp>
        <p:nvSpPr>
          <p:cNvPr id="160" name="Google Shape;160;p25"/>
          <p:cNvSpPr txBox="1"/>
          <p:nvPr/>
        </p:nvSpPr>
        <p:spPr>
          <a:xfrm>
            <a:off x="2815810" y="2393475"/>
            <a:ext cx="1448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2"/>
                </a:solidFill>
              </a:rPr>
              <a:t>Nobody hit the open button or new target is current floor</a:t>
            </a:r>
            <a:endParaRPr sz="1000">
              <a:solidFill>
                <a:schemeClr val="lt2"/>
              </a:solidFill>
            </a:endParaRPr>
          </a:p>
        </p:txBody>
      </p:sp>
      <p:sp>
        <p:nvSpPr>
          <p:cNvPr id="161" name="Google Shape;161;p25"/>
          <p:cNvSpPr txBox="1"/>
          <p:nvPr/>
        </p:nvSpPr>
        <p:spPr>
          <a:xfrm>
            <a:off x="3589553" y="2982750"/>
            <a:ext cx="1076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2"/>
                </a:solidFill>
              </a:rPr>
              <a:t>Doors are open</a:t>
            </a:r>
            <a:endParaRPr sz="1000">
              <a:solidFill>
                <a:schemeClr val="lt2"/>
              </a:solidFill>
            </a:endParaRPr>
          </a:p>
        </p:txBody>
      </p:sp>
      <p:sp>
        <p:nvSpPr>
          <p:cNvPr id="162" name="Google Shape;162;p25"/>
          <p:cNvSpPr/>
          <p:nvPr/>
        </p:nvSpPr>
        <p:spPr>
          <a:xfrm rot="-8340814">
            <a:off x="4935869" y="3017953"/>
            <a:ext cx="1045618" cy="230092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25"/>
          <p:cNvSpPr txBox="1"/>
          <p:nvPr/>
        </p:nvSpPr>
        <p:spPr>
          <a:xfrm>
            <a:off x="5437503" y="2865150"/>
            <a:ext cx="1076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2"/>
                </a:solidFill>
              </a:rPr>
              <a:t>Open button</a:t>
            </a:r>
            <a:endParaRPr sz="10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Elevator State Machine Transitions:</a:t>
            </a:r>
            <a:endParaRPr/>
          </a:p>
        </p:txBody>
      </p:sp>
      <p:pic>
        <p:nvPicPr>
          <p:cNvPr id="169" name="Google Shape;16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17725"/>
            <a:ext cx="3956074" cy="3707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67775" y="1017725"/>
            <a:ext cx="4507125" cy="2850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Elevator Door and Car Positions:</a:t>
            </a:r>
            <a:endParaRPr/>
          </a:p>
        </p:txBody>
      </p:sp>
      <p:pic>
        <p:nvPicPr>
          <p:cNvPr id="176" name="Google Shape;176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17725"/>
            <a:ext cx="4068550" cy="2983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80250" y="1017725"/>
            <a:ext cx="4030010" cy="2983601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7"/>
          <p:cNvSpPr txBox="1"/>
          <p:nvPr/>
        </p:nvSpPr>
        <p:spPr>
          <a:xfrm>
            <a:off x="311700" y="4001325"/>
            <a:ext cx="498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</a:rPr>
              <a:t>There is more… this is the main section</a:t>
            </a:r>
            <a:endParaRPr sz="18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Agent State Machine (AgentController)</a:t>
            </a:r>
            <a:endParaRPr/>
          </a:p>
        </p:txBody>
      </p:sp>
      <p:sp>
        <p:nvSpPr>
          <p:cNvPr id="184" name="Google Shape;184;p28"/>
          <p:cNvSpPr/>
          <p:nvPr/>
        </p:nvSpPr>
        <p:spPr>
          <a:xfrm>
            <a:off x="1171350" y="2261550"/>
            <a:ext cx="1185000" cy="830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Pressing</a:t>
            </a:r>
            <a:endParaRPr/>
          </a:p>
        </p:txBody>
      </p:sp>
      <p:sp>
        <p:nvSpPr>
          <p:cNvPr id="185" name="Google Shape;185;p28"/>
          <p:cNvSpPr/>
          <p:nvPr/>
        </p:nvSpPr>
        <p:spPr>
          <a:xfrm>
            <a:off x="3839250" y="1337800"/>
            <a:ext cx="1185000" cy="830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Waiting</a:t>
            </a:r>
            <a:endParaRPr/>
          </a:p>
        </p:txBody>
      </p:sp>
      <p:sp>
        <p:nvSpPr>
          <p:cNvPr id="186" name="Google Shape;186;p28"/>
          <p:cNvSpPr/>
          <p:nvPr/>
        </p:nvSpPr>
        <p:spPr>
          <a:xfrm>
            <a:off x="6445050" y="1827725"/>
            <a:ext cx="1185000" cy="830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Pursuing</a:t>
            </a:r>
            <a:endParaRPr/>
          </a:p>
        </p:txBody>
      </p:sp>
      <p:sp>
        <p:nvSpPr>
          <p:cNvPr id="187" name="Google Shape;187;p28"/>
          <p:cNvSpPr/>
          <p:nvPr/>
        </p:nvSpPr>
        <p:spPr>
          <a:xfrm>
            <a:off x="6445050" y="3488525"/>
            <a:ext cx="1185000" cy="830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Boarded</a:t>
            </a:r>
            <a:endParaRPr/>
          </a:p>
        </p:txBody>
      </p:sp>
      <p:sp>
        <p:nvSpPr>
          <p:cNvPr id="188" name="Google Shape;188;p28"/>
          <p:cNvSpPr/>
          <p:nvPr/>
        </p:nvSpPr>
        <p:spPr>
          <a:xfrm>
            <a:off x="3839250" y="3488525"/>
            <a:ext cx="1185000" cy="830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Leaving</a:t>
            </a:r>
            <a:endParaRPr/>
          </a:p>
        </p:txBody>
      </p:sp>
      <p:sp>
        <p:nvSpPr>
          <p:cNvPr id="189" name="Google Shape;189;p28"/>
          <p:cNvSpPr/>
          <p:nvPr/>
        </p:nvSpPr>
        <p:spPr>
          <a:xfrm rot="-1310460">
            <a:off x="2269943" y="1769152"/>
            <a:ext cx="1612764" cy="230188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28"/>
          <p:cNvSpPr/>
          <p:nvPr/>
        </p:nvSpPr>
        <p:spPr>
          <a:xfrm rot="9489886">
            <a:off x="2345087" y="1967026"/>
            <a:ext cx="1509926" cy="23018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28"/>
          <p:cNvSpPr/>
          <p:nvPr/>
        </p:nvSpPr>
        <p:spPr>
          <a:xfrm>
            <a:off x="5024250" y="2031438"/>
            <a:ext cx="1420800" cy="230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28"/>
          <p:cNvSpPr/>
          <p:nvPr/>
        </p:nvSpPr>
        <p:spPr>
          <a:xfrm rot="10800000">
            <a:off x="2425050" y="2386400"/>
            <a:ext cx="4020000" cy="230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28"/>
          <p:cNvSpPr/>
          <p:nvPr/>
        </p:nvSpPr>
        <p:spPr>
          <a:xfrm rot="5400000">
            <a:off x="6622350" y="2958275"/>
            <a:ext cx="830400" cy="230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28"/>
          <p:cNvSpPr/>
          <p:nvPr/>
        </p:nvSpPr>
        <p:spPr>
          <a:xfrm rot="10800000">
            <a:off x="5024250" y="3788675"/>
            <a:ext cx="1420800" cy="230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28"/>
          <p:cNvSpPr txBox="1"/>
          <p:nvPr/>
        </p:nvSpPr>
        <p:spPr>
          <a:xfrm>
            <a:off x="1637825" y="1548850"/>
            <a:ext cx="1420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2"/>
                </a:solidFill>
              </a:rPr>
              <a:t>Hall Button Pressed</a:t>
            </a:r>
            <a:endParaRPr sz="1000">
              <a:solidFill>
                <a:schemeClr val="lt2"/>
              </a:solidFill>
            </a:endParaRPr>
          </a:p>
        </p:txBody>
      </p:sp>
      <p:sp>
        <p:nvSpPr>
          <p:cNvPr id="196" name="Google Shape;196;p28"/>
          <p:cNvSpPr txBox="1"/>
          <p:nvPr/>
        </p:nvSpPr>
        <p:spPr>
          <a:xfrm>
            <a:off x="1171350" y="3115338"/>
            <a:ext cx="1420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9900"/>
                </a:solidFill>
              </a:rPr>
              <a:t>* </a:t>
            </a:r>
            <a:r>
              <a:rPr lang="en" sz="1000">
                <a:solidFill>
                  <a:srgbClr val="FF9900"/>
                </a:solidFill>
              </a:rPr>
              <a:t>Patience Timer ran out (press again)</a:t>
            </a:r>
            <a:endParaRPr sz="1000">
              <a:solidFill>
                <a:srgbClr val="FF9900"/>
              </a:solidFill>
            </a:endParaRPr>
          </a:p>
        </p:txBody>
      </p:sp>
      <p:sp>
        <p:nvSpPr>
          <p:cNvPr id="197" name="Google Shape;197;p28"/>
          <p:cNvSpPr txBox="1"/>
          <p:nvPr/>
        </p:nvSpPr>
        <p:spPr>
          <a:xfrm>
            <a:off x="5024250" y="1692750"/>
            <a:ext cx="1420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2"/>
                </a:solidFill>
              </a:rPr>
              <a:t>Elevator has arrived</a:t>
            </a:r>
            <a:endParaRPr sz="1000">
              <a:solidFill>
                <a:schemeClr val="lt2"/>
              </a:solidFill>
            </a:endParaRPr>
          </a:p>
        </p:txBody>
      </p:sp>
      <p:sp>
        <p:nvSpPr>
          <p:cNvPr id="198" name="Google Shape;198;p28"/>
          <p:cNvSpPr txBox="1"/>
          <p:nvPr/>
        </p:nvSpPr>
        <p:spPr>
          <a:xfrm>
            <a:off x="3835650" y="2590650"/>
            <a:ext cx="1738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2"/>
                </a:solidFill>
              </a:rPr>
              <a:t>Elevator missed or full</a:t>
            </a:r>
            <a:endParaRPr sz="1000">
              <a:solidFill>
                <a:schemeClr val="lt2"/>
              </a:solidFill>
            </a:endParaRPr>
          </a:p>
        </p:txBody>
      </p:sp>
      <p:sp>
        <p:nvSpPr>
          <p:cNvPr id="199" name="Google Shape;199;p28"/>
          <p:cNvSpPr txBox="1"/>
          <p:nvPr/>
        </p:nvSpPr>
        <p:spPr>
          <a:xfrm>
            <a:off x="7152600" y="2846863"/>
            <a:ext cx="1420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2"/>
                </a:solidFill>
              </a:rPr>
              <a:t>Elevator boarded</a:t>
            </a:r>
            <a:endParaRPr sz="1000">
              <a:solidFill>
                <a:schemeClr val="lt2"/>
              </a:solidFill>
            </a:endParaRPr>
          </a:p>
        </p:txBody>
      </p:sp>
      <p:sp>
        <p:nvSpPr>
          <p:cNvPr id="200" name="Google Shape;200;p28"/>
          <p:cNvSpPr txBox="1"/>
          <p:nvPr/>
        </p:nvSpPr>
        <p:spPr>
          <a:xfrm>
            <a:off x="5260050" y="4018775"/>
            <a:ext cx="1185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2"/>
                </a:solidFill>
              </a:rPr>
              <a:t>Elevator arrived</a:t>
            </a:r>
            <a:endParaRPr sz="10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Agent State Transitions</a:t>
            </a:r>
            <a:endParaRPr/>
          </a:p>
        </p:txBody>
      </p:sp>
      <p:pic>
        <p:nvPicPr>
          <p:cNvPr id="206" name="Google Shape;206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17725"/>
            <a:ext cx="4077201" cy="3444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88900" y="1017725"/>
            <a:ext cx="4561474" cy="183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Agent Movement</a:t>
            </a:r>
            <a:endParaRPr/>
          </a:p>
        </p:txBody>
      </p:sp>
      <p:pic>
        <p:nvPicPr>
          <p:cNvPr id="213" name="Google Shape;213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17725"/>
            <a:ext cx="3884225" cy="38209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95925" y="1017725"/>
            <a:ext cx="4643275" cy="23135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